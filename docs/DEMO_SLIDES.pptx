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本轮以魏的 lanyangyang 分支和 v1.2 当前契约联调。页面访问实际 FastAPI 和数据库，不以响应夹具生成成功结果。数据仍然是合成的，演示不代表真实客户收益。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用西湖文三店每日坚果礼盒作为演示。先核对证据，再进入调拨工作台修改数量。输入变化以后必须重新计算，不能继续使用旧结果。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业务结果由确定性程序计算。三类工作台复用保存、提交、审批和任务流程。旧统一 Agent Run 草案不再是当前协议，也不会通过前端兼容层伪装成后端已经实现。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审批成功不表示已经调出库存。execute 只创建 draft_pending_external_execution。即使人工登记完成，也不能声称外部操作由系统自动完成。并发版本检查仍是待魏完善的服务端事项。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演示未来十四天减少百分之二十采购。先展示参数卡，确认后才调用后端。结果除了支出变化，还必须检查新增缺货风险；不能把减量金额直接说成利润或回款。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导出包从当前后端种子读取稳定输入，在临时数据库中生成，不打开用户日常数据库。实际模型尚未接入，因此不报告模型准确率或 token 成本结论。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本轮已合入魏 lanyangyang 的19794ca（并发修复3cc6c4a）。2026-10-03本地统一验收六步全部通过，Python测试包含33项实际后端浏览器用例；独立45次串行和9线程150次并发读取均为200，内容与串行基准一致。没有用固定响应替代计算，没有跳过失败用例。远端CI尚待验证，原联调录像本轮未重录；这些结果不证明模型理解、客户收益、跨进程事务或 ERP 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当前差异化还需要实验验证。应该给熟练人员和 GPT 同样的数据、约束与计算工具，比较完整任务成本。后续可能积累的是实际约束、可执行流程和结果反馈，而不是简单增加模型调用次数。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2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6576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9AD7B7"/>
                </a:solidFill>
                <a:latin typeface="Microsoft YaHei"/>
              </a:defRPr>
            </a:pPr>
            <a:r>
              <a:t>HUO BU YA QIAN / LIVE BACKEND v1.2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10972800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600" b="1">
                <a:solidFill>
                  <a:srgbClr val="EEF3F6"/>
                </a:solidFill>
                <a:latin typeface="Microsoft YaHei"/>
              </a:defRPr>
            </a:pPr>
            <a:r>
              <a:t>货不压钱</a:t>
            </a:r>
          </a:p>
          <a:p>
            <a:pPr>
              <a:spcAft>
                <a:spcPts val="500"/>
              </a:spcAft>
              <a:defRPr sz="3600" b="1">
                <a:solidFill>
                  <a:srgbClr val="EEF3F6"/>
                </a:solidFill>
                <a:latin typeface="Microsoft YaHei"/>
              </a:defRPr>
            </a:pPr>
            <a:r>
              <a:t>让库存决策有据可查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246888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BDCBD5"/>
                </a:solidFill>
                <a:latin typeface="Microsoft YaHei"/>
              </a:defRPr>
            </a:pPr>
            <a:r>
              <a:t>连锁零售库存工作台 · 实际后端计算 · 合成零食数据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3200400"/>
            <a:ext cx="41148" cy="41148"/>
          </a:xfrm>
          <a:prstGeom prst="rect">
            <a:avLst/>
          </a:prstGeom>
          <a:solidFill>
            <a:srgbClr val="9AD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081528"/>
            <a:ext cx="1060704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EEF3F6"/>
                </a:solidFill>
                <a:latin typeface="Microsoft YaHei"/>
              </a:defRPr>
            </a:pPr>
            <a:r>
              <a:t>先核对事实、数量与业务约束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639312"/>
            <a:ext cx="41148" cy="41148"/>
          </a:xfrm>
          <a:prstGeom prst="rect">
            <a:avLst/>
          </a:prstGeom>
          <a:solidFill>
            <a:srgbClr val="9AD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520440"/>
            <a:ext cx="1060704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EEF3F6"/>
                </a:solidFill>
                <a:latin typeface="Microsoft YaHei"/>
              </a:defRPr>
            </a:pPr>
            <a:r>
              <a:t>保存方案，人工审批后生成待执行任务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4078224"/>
            <a:ext cx="41148" cy="41148"/>
          </a:xfrm>
          <a:prstGeom prst="rect">
            <a:avLst/>
          </a:prstGeom>
          <a:solidFill>
            <a:srgbClr val="9AD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959352"/>
            <a:ext cx="1060704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EEF3F6"/>
                </a:solidFill>
                <a:latin typeface="Microsoft YaHei"/>
              </a:defRPr>
            </a:pPr>
            <a:r>
              <a:t>采购情景先确认参数，再比较结果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" y="6108192"/>
            <a:ext cx="10927080" cy="10972"/>
          </a:xfrm>
          <a:prstGeom prst="rect">
            <a:avLst/>
          </a:prstGeom>
          <a:solidFill>
            <a:srgbClr val="3546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6272784"/>
            <a:ext cx="9875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BDCBD5"/>
                </a:solidFill>
                <a:latin typeface="Microsoft YaHei"/>
              </a:defRPr>
            </a:pPr>
            <a:r>
              <a:t>当前为确定性规则工具 · 没有真实模型或外部 ERP 调用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63072" y="6272784"/>
            <a:ext cx="731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9AD7B7"/>
                </a:solidFill>
                <a:latin typeface="Microsoft YaHei"/>
              </a:defRPr>
            </a:pPr>
            <a:r>
              <a:t>01 / 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2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6576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9AD7B7"/>
                </a:solidFill>
                <a:latin typeface="Microsoft YaHei"/>
              </a:defRPr>
            </a:pPr>
            <a:r>
              <a:t>01 / DAILY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10972800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600" b="1">
                <a:solidFill>
                  <a:srgbClr val="EEF3F6"/>
                </a:solidFill>
                <a:latin typeface="Microsoft YaHei"/>
              </a:defRPr>
            </a:pPr>
            <a:r>
              <a:t>从需要关注的商品</a:t>
            </a:r>
          </a:p>
          <a:p>
            <a:pPr>
              <a:spcAft>
                <a:spcPts val="500"/>
              </a:spcAft>
              <a:defRPr sz="3600" b="1">
                <a:solidFill>
                  <a:srgbClr val="EEF3F6"/>
                </a:solidFill>
                <a:latin typeface="Microsoft YaHei"/>
              </a:defRPr>
            </a:pPr>
            <a:r>
              <a:t>走到一份可核对方案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246888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BDCBD5"/>
                </a:solidFill>
                <a:latin typeface="Microsoft YaHei"/>
              </a:defRPr>
            </a:pPr>
            <a:r>
              <a:t>经营总览 → 风险证据 → 工作台计算 → 人工审批 → 待执行任务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3200400"/>
            <a:ext cx="41148" cy="41148"/>
          </a:xfrm>
          <a:prstGeom prst="rect">
            <a:avLst/>
          </a:prstGeom>
          <a:solidFill>
            <a:srgbClr val="9AD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081528"/>
            <a:ext cx="1060704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EEF3F6"/>
                </a:solidFill>
                <a:latin typeface="Microsoft YaHei"/>
              </a:defRPr>
            </a:pPr>
            <a:r>
              <a:t>总览分开显示账户、库存成本与采购付款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639312"/>
            <a:ext cx="41148" cy="41148"/>
          </a:xfrm>
          <a:prstGeom prst="rect">
            <a:avLst/>
          </a:prstGeom>
          <a:solidFill>
            <a:srgbClr val="9AD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520440"/>
            <a:ext cx="1060704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EEF3F6"/>
                </a:solidFill>
                <a:latin typeface="Microsoft YaHei"/>
              </a:defRPr>
            </a:pPr>
            <a:r>
              <a:t>风险详情保留事实、原因假设与缺项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4078224"/>
            <a:ext cx="41148" cy="41148"/>
          </a:xfrm>
          <a:prstGeom prst="rect">
            <a:avLst/>
          </a:prstGeom>
          <a:solidFill>
            <a:srgbClr val="9AD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959352"/>
            <a:ext cx="1060704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EEF3F6"/>
                </a:solidFill>
                <a:latin typeface="Microsoft YaHei"/>
              </a:defRPr>
            </a:pPr>
            <a:r>
              <a:t>调拨、近效期、采购各自核对约束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517136"/>
            <a:ext cx="41148" cy="41148"/>
          </a:xfrm>
          <a:prstGeom prst="rect">
            <a:avLst/>
          </a:prstGeom>
          <a:solidFill>
            <a:srgbClr val="9AD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398264"/>
            <a:ext cx="1060704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EEF3F6"/>
                </a:solidFill>
                <a:latin typeface="Microsoft YaHei"/>
              </a:defRPr>
            </a:pPr>
            <a:r>
              <a:t>今日待办区分待审批、跟进与人工完成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" y="6108192"/>
            <a:ext cx="10927080" cy="10972"/>
          </a:xfrm>
          <a:prstGeom prst="rect">
            <a:avLst/>
          </a:prstGeom>
          <a:solidFill>
            <a:srgbClr val="3546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6272784"/>
            <a:ext cx="9875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BDCBD5"/>
                </a:solidFill>
                <a:latin typeface="Microsoft YaHei"/>
              </a:defRPr>
            </a:pPr>
            <a:r>
              <a:t>调拨改变库存位置，不直接产生现金到账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63072" y="6272784"/>
            <a:ext cx="731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9AD7B7"/>
                </a:solidFill>
                <a:latin typeface="Microsoft YaHei"/>
              </a:defRPr>
            </a:pPr>
            <a:r>
              <a:t>02 / 08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2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6576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9AD7B7"/>
                </a:solidFill>
                <a:latin typeface="Microsoft YaHei"/>
              </a:defRPr>
            </a:pPr>
            <a:r>
              <a:t>02 / COMPUTATION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10972800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600" b="1">
                <a:solidFill>
                  <a:srgbClr val="EEF3F6"/>
                </a:solidFill>
                <a:latin typeface="Microsoft YaHei"/>
              </a:defRPr>
            </a:pPr>
            <a:r>
              <a:t>程序计算数量与金额</a:t>
            </a:r>
          </a:p>
          <a:p>
            <a:pPr>
              <a:spcAft>
                <a:spcPts val="500"/>
              </a:spcAft>
              <a:defRPr sz="3600" b="1">
                <a:solidFill>
                  <a:srgbClr val="EEF3F6"/>
                </a:solidFill>
                <a:latin typeface="Microsoft YaHei"/>
              </a:defRPr>
            </a:pPr>
            <a:r>
              <a:t>前端呈现证据与错误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246888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BDCBD5"/>
                </a:solidFill>
                <a:latin typeface="Microsoft YaHei"/>
              </a:defRPr>
            </a:pPr>
            <a:r>
              <a:t>当前使用魏的实际零售、工作台、方案和执行任务 API。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3200400"/>
            <a:ext cx="41148" cy="41148"/>
          </a:xfrm>
          <a:prstGeom prst="rect">
            <a:avLst/>
          </a:prstGeom>
          <a:solidFill>
            <a:srgbClr val="9AD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081528"/>
            <a:ext cx="1060704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EEF3F6"/>
                </a:solidFill>
                <a:latin typeface="Microsoft YaHei"/>
              </a:defRPr>
            </a:pPr>
            <a:r>
              <a:t>金额为人民币元，百分比为 0—100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639312"/>
            <a:ext cx="41148" cy="41148"/>
          </a:xfrm>
          <a:prstGeom prst="rect">
            <a:avLst/>
          </a:prstGeom>
          <a:solidFill>
            <a:srgbClr val="9AD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520440"/>
            <a:ext cx="1060704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EEF3F6"/>
                </a:solidFill>
                <a:latin typeface="Microsoft YaHei"/>
              </a:defRPr>
            </a:pPr>
            <a:r>
              <a:t>初值和结果从后端返回，前端不补算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4078224"/>
            <a:ext cx="41148" cy="41148"/>
          </a:xfrm>
          <a:prstGeom prst="rect">
            <a:avLst/>
          </a:prstGeom>
          <a:solidFill>
            <a:srgbClr val="9AD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959352"/>
            <a:ext cx="1060704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EEF3F6"/>
                </a:solidFill>
                <a:latin typeface="Microsoft YaHei"/>
              </a:defRPr>
            </a:pPr>
            <a:r>
              <a:t>无效方案展示约束错误，不能保存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517136"/>
            <a:ext cx="41148" cy="41148"/>
          </a:xfrm>
          <a:prstGeom prst="rect">
            <a:avLst/>
          </a:prstGeom>
          <a:solidFill>
            <a:srgbClr val="9AD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398264"/>
            <a:ext cx="1060704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EEF3F6"/>
                </a:solidFill>
                <a:latin typeface="Microsoft YaHei"/>
              </a:defRPr>
            </a:pPr>
            <a:r>
              <a:t>未知保留 null，真实缺项不补合成数字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" y="6108192"/>
            <a:ext cx="10927080" cy="10972"/>
          </a:xfrm>
          <a:prstGeom prst="rect">
            <a:avLst/>
          </a:prstGeom>
          <a:solidFill>
            <a:srgbClr val="3546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6272784"/>
            <a:ext cx="9875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BDCBD5"/>
                </a:solidFill>
                <a:latin typeface="Microsoft YaHei"/>
              </a:defRPr>
            </a:pPr>
            <a:r>
              <a:t>当前依据根 API_CONTRACT.md 与 FastAPI 1.2.0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63072" y="6272784"/>
            <a:ext cx="731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9AD7B7"/>
                </a:solidFill>
                <a:latin typeface="Microsoft YaHei"/>
              </a:defRPr>
            </a:pPr>
            <a:r>
              <a:t>03 / 08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2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6576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9AD7B7"/>
                </a:solidFill>
                <a:latin typeface="Microsoft YaHei"/>
              </a:defRPr>
            </a:pPr>
            <a:r>
              <a:t>03 / HUMAN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10972800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600" b="1">
                <a:solidFill>
                  <a:srgbClr val="EEF3F6"/>
                </a:solidFill>
                <a:latin typeface="Microsoft YaHei"/>
              </a:defRPr>
            </a:pPr>
            <a:r>
              <a:t>保存、审批、执行</a:t>
            </a:r>
          </a:p>
          <a:p>
            <a:pPr>
              <a:spcAft>
                <a:spcPts val="500"/>
              </a:spcAft>
              <a:defRPr sz="3600" b="1">
                <a:solidFill>
                  <a:srgbClr val="EEF3F6"/>
                </a:solidFill>
                <a:latin typeface="Microsoft YaHei"/>
              </a:defRPr>
            </a:pPr>
            <a:r>
              <a:t>是三个不同的状态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246888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BDCBD5"/>
                </a:solidFill>
                <a:latin typeface="Microsoft YaHei"/>
              </a:defRPr>
            </a:pPr>
            <a:r>
              <a:t>保存草稿 → 提交待审批 → 人工审批 → 生成待外部执行任务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3200400"/>
            <a:ext cx="41148" cy="41148"/>
          </a:xfrm>
          <a:prstGeom prst="rect">
            <a:avLst/>
          </a:prstGeom>
          <a:solidFill>
            <a:srgbClr val="9AD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081528"/>
            <a:ext cx="1060704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EEF3F6"/>
                </a:solidFill>
                <a:latin typeface="Microsoft YaHei"/>
              </a:defRPr>
            </a:pPr>
            <a:r>
              <a:t>审批前核对方案版本、数量和来源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639312"/>
            <a:ext cx="41148" cy="41148"/>
          </a:xfrm>
          <a:prstGeom prst="rect">
            <a:avLst/>
          </a:prstGeom>
          <a:solidFill>
            <a:srgbClr val="9AD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520440"/>
            <a:ext cx="1060704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EEF3F6"/>
                </a:solidFill>
                <a:latin typeface="Microsoft YaHei"/>
              </a:defRPr>
            </a:pPr>
            <a:r>
              <a:t>操作回执须与实际方案及版本关联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4078224"/>
            <a:ext cx="41148" cy="41148"/>
          </a:xfrm>
          <a:prstGeom prst="rect">
            <a:avLst/>
          </a:prstGeom>
          <a:solidFill>
            <a:srgbClr val="9AD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959352"/>
            <a:ext cx="1060704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EEF3F6"/>
                </a:solidFill>
                <a:latin typeface="Microsoft YaHei"/>
              </a:defRPr>
            </a:pPr>
            <a:r>
              <a:t>任务只保存在本地，没有 ERP 写入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517136"/>
            <a:ext cx="41148" cy="41148"/>
          </a:xfrm>
          <a:prstGeom prst="rect">
            <a:avLst/>
          </a:prstGeom>
          <a:solidFill>
            <a:srgbClr val="9AD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398264"/>
            <a:ext cx="1060704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EEF3F6"/>
                </a:solidFill>
                <a:latin typeface="Microsoft YaHei"/>
              </a:defRPr>
            </a:pPr>
            <a:r>
              <a:t>人工回执说明来源，不能伪装自动执行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" y="6108192"/>
            <a:ext cx="10927080" cy="10972"/>
          </a:xfrm>
          <a:prstGeom prst="rect">
            <a:avLst/>
          </a:prstGeom>
          <a:solidFill>
            <a:srgbClr val="3546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6272784"/>
            <a:ext cx="9875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BDCBD5"/>
                </a:solidFill>
                <a:latin typeface="Microsoft YaHei"/>
              </a:defRPr>
            </a:pPr>
            <a:r>
              <a:t>幂等键帮助防重复；服务端 expected_version 原子校验仍待完善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63072" y="6272784"/>
            <a:ext cx="731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9AD7B7"/>
                </a:solidFill>
                <a:latin typeface="Microsoft YaHei"/>
              </a:defRPr>
            </a:pPr>
            <a:r>
              <a:t>04 / 08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2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6576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9AD7B7"/>
                </a:solidFill>
                <a:latin typeface="Microsoft YaHei"/>
              </a:defRPr>
            </a:pPr>
            <a:r>
              <a:t>04 / PURCHASE SCENARIO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10972800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600" b="1">
                <a:solidFill>
                  <a:srgbClr val="EEF3F6"/>
                </a:solidFill>
                <a:latin typeface="Microsoft YaHei"/>
              </a:defRPr>
            </a:pPr>
            <a:r>
              <a:t>先确认减量条件</a:t>
            </a:r>
          </a:p>
          <a:p>
            <a:pPr>
              <a:spcAft>
                <a:spcPts val="500"/>
              </a:spcAft>
              <a:defRPr sz="3600" b="1">
                <a:solidFill>
                  <a:srgbClr val="EEF3F6"/>
                </a:solidFill>
                <a:latin typeface="Microsoft YaHei"/>
              </a:defRPr>
            </a:pPr>
            <a:r>
              <a:t>再看成本与缺货风险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246888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BDCBD5"/>
                </a:solidFill>
                <a:latin typeface="Microsoft YaHei"/>
              </a:defRPr>
            </a:pPr>
            <a:r>
              <a:t>周期、门店、品类、减量比例 → 参数预览 → 确认计算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3200400"/>
            <a:ext cx="41148" cy="41148"/>
          </a:xfrm>
          <a:prstGeom prst="rect">
            <a:avLst/>
          </a:prstGeom>
          <a:solidFill>
            <a:srgbClr val="9AD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081528"/>
            <a:ext cx="1060704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EEF3F6"/>
                </a:solidFill>
                <a:latin typeface="Microsoft YaHei"/>
              </a:defRPr>
            </a:pPr>
            <a:r>
              <a:t>当前只支持减少可调整采购数量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639312"/>
            <a:ext cx="41148" cy="41148"/>
          </a:xfrm>
          <a:prstGeom prst="rect">
            <a:avLst/>
          </a:prstGeom>
          <a:solidFill>
            <a:srgbClr val="9AD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520440"/>
            <a:ext cx="1060704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EEF3F6"/>
                </a:solidFill>
                <a:latin typeface="Microsoft YaHei"/>
              </a:defRPr>
            </a:pPr>
            <a:r>
              <a:t>备注文字不会自动变成任意业务动作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4078224"/>
            <a:ext cx="41148" cy="41148"/>
          </a:xfrm>
          <a:prstGeom prst="rect">
            <a:avLst/>
          </a:prstGeom>
          <a:solidFill>
            <a:srgbClr val="9AD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959352"/>
            <a:ext cx="1060704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EEF3F6"/>
                </a:solidFill>
                <a:latin typeface="Microsoft YaHei"/>
              </a:defRPr>
            </a:pPr>
            <a:r>
              <a:t>同时比较采购支出、期末库存与风险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517136"/>
            <a:ext cx="41148" cy="41148"/>
          </a:xfrm>
          <a:prstGeom prst="rect">
            <a:avLst/>
          </a:prstGeom>
          <a:solidFill>
            <a:srgbClr val="9AD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398264"/>
            <a:ext cx="1060704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EEF3F6"/>
                </a:solidFill>
                <a:latin typeface="Microsoft YaHei"/>
              </a:defRPr>
            </a:pPr>
            <a:r>
              <a:t>条件改变后旧预览和结果失效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956048"/>
            <a:ext cx="41148" cy="41148"/>
          </a:xfrm>
          <a:prstGeom prst="rect">
            <a:avLst/>
          </a:prstGeom>
          <a:solidFill>
            <a:srgbClr val="9AD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837176"/>
            <a:ext cx="1060704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EEF3F6"/>
                </a:solidFill>
                <a:latin typeface="Microsoft YaHei"/>
              </a:defRPr>
            </a:pPr>
            <a:r>
              <a:t>分周采购支出不是银行账户余额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" y="6108192"/>
            <a:ext cx="10927080" cy="10972"/>
          </a:xfrm>
          <a:prstGeom prst="rect">
            <a:avLst/>
          </a:prstGeom>
          <a:solidFill>
            <a:srgbClr val="3546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" y="6272784"/>
            <a:ext cx="9875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BDCBD5"/>
                </a:solidFill>
                <a:latin typeface="Microsoft YaHei"/>
              </a:defRPr>
            </a:pPr>
            <a:r>
              <a:t>少采购、库存成本减少与现金到账分别解释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63072" y="6272784"/>
            <a:ext cx="731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9AD7B7"/>
                </a:solidFill>
                <a:latin typeface="Microsoft YaHei"/>
              </a:defRPr>
            </a:pPr>
            <a:r>
              <a:t>05 / 08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2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6576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9AD7B7"/>
                </a:solidFill>
                <a:latin typeface="Microsoft YaHei"/>
              </a:defRPr>
            </a:pPr>
            <a:r>
              <a:t>05 / INPUT AND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10972800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600" b="1">
                <a:solidFill>
                  <a:srgbClr val="EEF3F6"/>
                </a:solidFill>
                <a:latin typeface="Microsoft YaHei"/>
              </a:defRPr>
            </a:pPr>
            <a:r>
              <a:t>输入可以复现</a:t>
            </a:r>
          </a:p>
          <a:p>
            <a:pPr>
              <a:spcAft>
                <a:spcPts val="500"/>
              </a:spcAft>
              <a:defRPr sz="3600" b="1">
                <a:solidFill>
                  <a:srgbClr val="EEF3F6"/>
                </a:solidFill>
                <a:latin typeface="Microsoft YaHei"/>
              </a:defRPr>
            </a:pPr>
            <a:r>
              <a:t>缺项需要明确保留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246888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BDCBD5"/>
                </a:solidFill>
                <a:latin typeface="Microsoft YaHei"/>
              </a:defRPr>
            </a:pPr>
            <a:r>
              <a:t>后端内置种子 · 50 个门店 · 313 个库存输入 · 独立付款计划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3200400"/>
            <a:ext cx="41148" cy="41148"/>
          </a:xfrm>
          <a:prstGeom prst="rect">
            <a:avLst/>
          </a:prstGeom>
          <a:solidFill>
            <a:srgbClr val="9AD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081528"/>
            <a:ext cx="1060704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EEF3F6"/>
                </a:solidFill>
                <a:latin typeface="Microsoft YaHei"/>
              </a:defRPr>
            </a:pPr>
            <a:r>
              <a:t>输入导出带来源、日期、单位与哈希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639312"/>
            <a:ext cx="41148" cy="41148"/>
          </a:xfrm>
          <a:prstGeom prst="rect">
            <a:avLst/>
          </a:prstGeom>
          <a:solidFill>
            <a:srgbClr val="9AD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520440"/>
            <a:ext cx="1060704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EEF3F6"/>
                </a:solidFill>
                <a:latin typeface="Microsoft YaHei"/>
              </a:defRPr>
            </a:pPr>
            <a:r>
              <a:t>下载文件不代表已经导入当前服务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4078224"/>
            <a:ext cx="41148" cy="41148"/>
          </a:xfrm>
          <a:prstGeom prst="rect">
            <a:avLst/>
          </a:prstGeom>
          <a:solidFill>
            <a:srgbClr val="9AD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959352"/>
            <a:ext cx="1060704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EEF3F6"/>
                </a:solidFill>
                <a:latin typeface="Microsoft YaHei"/>
              </a:defRPr>
            </a:pPr>
            <a:r>
              <a:t>反馈规则草稿必须由人工核对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517136"/>
            <a:ext cx="41148" cy="41148"/>
          </a:xfrm>
          <a:prstGeom prst="rect">
            <a:avLst/>
          </a:prstGeom>
          <a:solidFill>
            <a:srgbClr val="9AD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398264"/>
            <a:ext cx="1060704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EEF3F6"/>
                </a:solidFill>
                <a:latin typeface="Microsoft YaHei"/>
              </a:defRPr>
            </a:pPr>
            <a:r>
              <a:t>两组各24条人工参考尚未运行模型评估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" y="6108192"/>
            <a:ext cx="10927080" cy="10972"/>
          </a:xfrm>
          <a:prstGeom prst="rect">
            <a:avLst/>
          </a:prstGeom>
          <a:solidFill>
            <a:srgbClr val="3546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6272784"/>
            <a:ext cx="9875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BDCBD5"/>
                </a:solidFill>
                <a:latin typeface="Microsoft YaHei"/>
              </a:defRPr>
            </a:pPr>
            <a:r>
              <a:t>合成数据、人工参考与实际模型效果不能互相替代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63072" y="6272784"/>
            <a:ext cx="731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9AD7B7"/>
                </a:solidFill>
                <a:latin typeface="Microsoft YaHei"/>
              </a:defRPr>
            </a:pPr>
            <a:r>
              <a:t>06 / 08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2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6576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9AD7B7"/>
                </a:solidFill>
                <a:latin typeface="Microsoft YaHei"/>
              </a:defRPr>
            </a:pPr>
            <a:r>
              <a:t>06 /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10972800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600" b="1">
                <a:solidFill>
                  <a:srgbClr val="EEF3F6"/>
                </a:solidFill>
                <a:latin typeface="Microsoft YaHei"/>
              </a:defRPr>
            </a:pPr>
            <a:r>
              <a:t>让真实操作链</a:t>
            </a:r>
          </a:p>
          <a:p>
            <a:pPr>
              <a:spcAft>
                <a:spcPts val="500"/>
              </a:spcAft>
              <a:defRPr sz="3600" b="1">
                <a:solidFill>
                  <a:srgbClr val="EEF3F6"/>
                </a:solidFill>
                <a:latin typeface="Microsoft YaHei"/>
              </a:defRPr>
            </a:pPr>
            <a:r>
              <a:t>经得起重复检查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246888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BDCBD5"/>
                </a:solidFill>
                <a:latin typeface="Microsoft YaHei"/>
              </a:defRPr>
            </a:pPr>
            <a:r>
              <a:t>浏览器 → 前端代理 → 实际 FastAPI → 临时数据库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3200400"/>
            <a:ext cx="41148" cy="41148"/>
          </a:xfrm>
          <a:prstGeom prst="rect">
            <a:avLst/>
          </a:prstGeom>
          <a:solidFill>
            <a:srgbClr val="9AD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081528"/>
            <a:ext cx="1060704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EEF3F6"/>
                </a:solidFill>
                <a:latin typeface="Microsoft YaHei"/>
              </a:defRPr>
            </a:pPr>
            <a:r>
              <a:t>覆盖工作台、审批、任务与人工回执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639312"/>
            <a:ext cx="41148" cy="41148"/>
          </a:xfrm>
          <a:prstGeom prst="rect">
            <a:avLst/>
          </a:prstGeom>
          <a:solidFill>
            <a:srgbClr val="9AD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520440"/>
            <a:ext cx="1060704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EEF3F6"/>
                </a:solidFill>
                <a:latin typeface="Microsoft YaHei"/>
              </a:defRPr>
            </a:pPr>
            <a:r>
              <a:t>覆盖反馈核对和事实变化后重算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4078224"/>
            <a:ext cx="41148" cy="41148"/>
          </a:xfrm>
          <a:prstGeom prst="rect">
            <a:avLst/>
          </a:prstGeom>
          <a:solidFill>
            <a:srgbClr val="9AD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959352"/>
            <a:ext cx="1060704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EEF3F6"/>
                </a:solidFill>
                <a:latin typeface="Microsoft YaHei"/>
              </a:defRPr>
            </a:pPr>
            <a:r>
              <a:t>覆盖模拟预览、约束错误与真实缺项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517136"/>
            <a:ext cx="41148" cy="41148"/>
          </a:xfrm>
          <a:prstGeom prst="rect">
            <a:avLst/>
          </a:prstGeom>
          <a:solidFill>
            <a:srgbClr val="9AD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398264"/>
            <a:ext cx="1060704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EEF3F6"/>
                </a:solidFill>
                <a:latin typeface="Microsoft YaHei"/>
              </a:defRPr>
            </a:pPr>
            <a:r>
              <a:t>样例校验含零减量、全减量与数据隔离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" y="6108192"/>
            <a:ext cx="10927080" cy="10972"/>
          </a:xfrm>
          <a:prstGeom prst="rect">
            <a:avLst/>
          </a:prstGeom>
          <a:solidFill>
            <a:srgbClr val="3546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6272784"/>
            <a:ext cx="9875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BDCBD5"/>
                </a:solidFill>
                <a:latin typeface="Microsoft YaHei"/>
              </a:defRPr>
            </a:pPr>
            <a:r>
              <a:t>本地复验：JS 112/112 · Python 153/153 · 并发读取 150/150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63072" y="6272784"/>
            <a:ext cx="731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9AD7B7"/>
                </a:solidFill>
                <a:latin typeface="Microsoft YaHei"/>
              </a:defRPr>
            </a:pPr>
            <a:r>
              <a:t>07 / 08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2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6576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9AD7B7"/>
                </a:solidFill>
                <a:latin typeface="Microsoft YaHei"/>
              </a:defRPr>
            </a:pPr>
            <a:r>
              <a:t>07 / NEXT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10972800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600" b="1">
                <a:solidFill>
                  <a:srgbClr val="EEF3F6"/>
                </a:solidFill>
                <a:latin typeface="Microsoft YaHei"/>
              </a:defRPr>
            </a:pPr>
            <a:r>
              <a:t>下一步先验证</a:t>
            </a:r>
          </a:p>
          <a:p>
            <a:pPr>
              <a:spcAft>
                <a:spcPts val="500"/>
              </a:spcAft>
              <a:defRPr sz="3600" b="1">
                <a:solidFill>
                  <a:srgbClr val="EEF3F6"/>
                </a:solidFill>
                <a:latin typeface="Microsoft YaHei"/>
              </a:defRPr>
            </a:pPr>
            <a:r>
              <a:t>能否减少实际工作量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246888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BDCBD5"/>
                </a:solidFill>
                <a:latin typeface="Microsoft YaHei"/>
              </a:defRPr>
            </a:pPr>
            <a:r>
              <a:t>聚焦一条业务流程，比较完整任务耗时、可执行率和有效决策成本。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3200400"/>
            <a:ext cx="41148" cy="41148"/>
          </a:xfrm>
          <a:prstGeom prst="rect">
            <a:avLst/>
          </a:prstGeom>
          <a:solidFill>
            <a:srgbClr val="9AD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081528"/>
            <a:ext cx="1060704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EEF3F6"/>
                </a:solidFill>
                <a:latin typeface="Microsoft YaHei"/>
              </a:defRPr>
            </a:pPr>
            <a:r>
              <a:t>完善跨进程事务、版本失效与权限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639312"/>
            <a:ext cx="41148" cy="41148"/>
          </a:xfrm>
          <a:prstGeom prst="rect">
            <a:avLst/>
          </a:prstGeom>
          <a:solidFill>
            <a:srgbClr val="9AD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520440"/>
            <a:ext cx="1060704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EEF3F6"/>
                </a:solidFill>
                <a:latin typeface="Microsoft YaHei"/>
              </a:defRPr>
            </a:pPr>
            <a:r>
              <a:t>接入一份授权真实数据，先做只读核对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4078224"/>
            <a:ext cx="41148" cy="41148"/>
          </a:xfrm>
          <a:prstGeom prst="rect">
            <a:avLst/>
          </a:prstGeom>
          <a:solidFill>
            <a:srgbClr val="9AD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959352"/>
            <a:ext cx="1060704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EEF3F6"/>
                </a:solidFill>
                <a:latin typeface="Microsoft YaHei"/>
              </a:defRPr>
            </a:pPr>
            <a:r>
              <a:t>对比熟练人员加 GPT 的同条件基线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517136"/>
            <a:ext cx="41148" cy="41148"/>
          </a:xfrm>
          <a:prstGeom prst="rect">
            <a:avLst/>
          </a:prstGeom>
          <a:solidFill>
            <a:srgbClr val="9AD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398264"/>
            <a:ext cx="1060704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EEF3F6"/>
                </a:solidFill>
                <a:latin typeface="Microsoft YaHei"/>
              </a:defRPr>
            </a:pPr>
            <a:r>
              <a:t>模型按需使用，执行结果如实回收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" y="6108192"/>
            <a:ext cx="10927080" cy="10972"/>
          </a:xfrm>
          <a:prstGeom prst="rect">
            <a:avLst/>
          </a:prstGeom>
          <a:solidFill>
            <a:srgbClr val="3546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6272784"/>
            <a:ext cx="9875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BDCBD5"/>
                </a:solidFill>
                <a:latin typeface="Microsoft YaHei"/>
              </a:defRPr>
            </a:pPr>
            <a:r>
              <a:t>多 Agent、模型接口与页面数量本身不构成商业壁垒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63072" y="6272784"/>
            <a:ext cx="731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9AD7B7"/>
                </a:solidFill>
                <a:latin typeface="Microsoft YaHei"/>
              </a:defRPr>
            </a:pPr>
            <a:r>
              <a:t>08 / 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货不压钱 · v1.2 实际后端联调</dc:title>
  <dc:subject>v1.2 / 合成零食数据 / 确定性业务计算 / zmj</dc:subject>
  <dc:creator>货不压钱项目组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dc:language>zh-CN</dc:language>
</cp:coreProperties>
</file>